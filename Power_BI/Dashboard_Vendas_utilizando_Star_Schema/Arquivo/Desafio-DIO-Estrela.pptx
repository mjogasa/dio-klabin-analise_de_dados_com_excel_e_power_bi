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56" d="100"/>
          <a:sy n="56" d="100"/>
        </p:scale>
        <p:origin x="129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40C820-DF74-B56E-07F7-E1A91C057E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8295447-8BCF-ED94-F75A-6BB0121CCD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35F0EC-3329-4028-6F27-20739C4CB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E8A05F-6284-490C-F564-10C13AF45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EA3E13-4CA2-A362-FE92-7766DC522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1525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FCA443-C60B-6398-9409-04ED438E8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2D30E8-53B1-C252-288C-9516C5A43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F0B0B9-A646-B9EB-F097-57DDBC67A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C5B11A-D245-76AD-C572-5B9F39EB6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29458A-A83E-63A7-D546-867E5B797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6013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562928-FEA4-A6E4-758E-364054BCC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0EA6DFB-B63A-55E3-8275-F5D50F55A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72233A-2DB0-ADDB-7263-505BA438C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790D0B-36E5-5575-AAA8-3D5DF6F03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6D5552-37C0-B5D7-6C61-966DB264C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9895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8358E1-CA81-CC1C-AD95-35AD4C028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9F7AB2-270F-F81A-4605-BE3ECBB8F9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504F0BD-39A1-1681-FAC9-BBDE781217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97C4D98-BC30-E3F1-E620-6310F1806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151AAA9-76F3-928B-8346-A59400D9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5D1A9A4-24F2-254C-C97D-D54962CDA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3782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21D635-4D78-47D3-96A3-005C4AF83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F13A792-FE21-8F03-C35E-E2D8F862E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4DC130E-409A-EEC2-A4BB-723F9A1162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2D44EE9-393A-0550-99FF-9FDBD835BF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D3E6265-403C-E100-AD38-AD60AC2213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095895A-CFA7-05D7-4B16-6F1CF486B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1C031E9-8D07-05E4-9534-BAE49A193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E608B3B-2A1B-9C1C-F45C-A4215B615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4616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4D3168-F0C5-1CDC-6B8C-10C2DEC99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D817DF-BBB9-5E82-9861-EFBB9C11B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CD07F6C-EFFF-DC53-7BBA-AEC675147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3BB8BD5-BB26-60E9-7932-C7549B23B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9575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6EA8845-AD88-DED0-FA76-D71B9A8EE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E00D4A2-FFBF-645E-4661-77AE436B1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AC61DD9-0910-9F1C-E4F4-6831FCE8E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776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FB3F0B-170D-594D-607C-674FBCB1E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DB5BA0-21A0-8CA7-7F69-5648DC922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3766797-883E-C720-CF0A-1E3F4A5F35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D32DEC-045E-7690-803C-A776A8BCE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53700F0-2D6A-2738-290E-9350E2C7D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70481F-A14F-7FAB-2541-401A05EA5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61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D74B22-C7E5-A55D-1AAC-63C115C89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C64CE7-DA66-8071-902E-7F48E1E759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C6BFD27-64B9-0580-4201-323FF49FCB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468AD0-0833-F930-1714-5DC01016F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C798A85-D99F-F4AF-31E7-1DB3E1F3F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A6A8D99-55AE-93A4-D138-EAE6D17FE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253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E807C9-E410-C1B4-4296-EAF823410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53262D1-8EA2-17FC-581A-52FC445167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4491B0-C984-9B5E-86E1-51BAD6232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4B16DE-6ADA-02DD-F07C-4014178E9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0A9A0C-D737-8337-9B78-932EF6BFE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8440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B6C1C14-3CC5-736E-3776-DCCF4F25EC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5EA9850-DB3C-753B-F9F1-FE9015467C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3916DD-02AE-7596-69AF-8179BF8CA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6717F3-5F85-67FF-3048-FFD7D0E06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5484FE-79E4-EDB9-93C3-E02A4BCD8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0664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350E215-A59B-D4E1-429E-8088AA940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113287D-30C8-F051-70F2-BDD154365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A6572B-8220-8581-AA26-3662FFA624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98A2B5-EFE2-4227-BA27-8836E5CFBAE9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297F0D-FB82-DF66-D88D-FB214BDE01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ED4ED8-9894-16C5-223E-287FEB2C7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4842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02A4D809-0AA4-097A-C58F-A67E6DF21AFE}"/>
              </a:ext>
            </a:extLst>
          </p:cNvPr>
          <p:cNvSpPr txBox="1"/>
          <p:nvPr/>
        </p:nvSpPr>
        <p:spPr>
          <a:xfrm>
            <a:off x="641268" y="231798"/>
            <a:ext cx="4667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Desafio DIO – Projeto Estrela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8616916-181A-9068-7CD9-9FD206208D09}"/>
              </a:ext>
            </a:extLst>
          </p:cNvPr>
          <p:cNvSpPr txBox="1"/>
          <p:nvPr/>
        </p:nvSpPr>
        <p:spPr>
          <a:xfrm>
            <a:off x="463678" y="3593733"/>
            <a:ext cx="921388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Baseado na tabela relacional fornecido no projeto, foi criado uma tabela estrela.</a:t>
            </a:r>
          </a:p>
          <a:p>
            <a:r>
              <a:rPr lang="pt-BR" sz="1400" dirty="0"/>
              <a:t>A tabela estrela foi baseada na tabela Professor, então a tabela Fato foi criada como </a:t>
            </a:r>
            <a:r>
              <a:rPr lang="pt-BR" sz="1400" dirty="0" err="1"/>
              <a:t>fato_professor</a:t>
            </a:r>
            <a:r>
              <a:rPr lang="pt-BR" sz="1400" dirty="0"/>
              <a:t>.</a:t>
            </a:r>
          </a:p>
          <a:p>
            <a:r>
              <a:rPr lang="pt-BR" sz="1400" dirty="0"/>
              <a:t>As tabelas dimensão foram criadas baseadas nas tabelas do esquema recebido.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0F3D6D06-9C91-7652-A157-3A4635052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97" y="1201156"/>
            <a:ext cx="3553721" cy="1998968"/>
          </a:xfrm>
          <a:prstGeom prst="rect">
            <a:avLst/>
          </a:prstGeom>
        </p:spPr>
      </p:pic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B2333925-50D2-4D68-B1BD-DC775F79C305}"/>
              </a:ext>
            </a:extLst>
          </p:cNvPr>
          <p:cNvSpPr/>
          <p:nvPr/>
        </p:nvSpPr>
        <p:spPr>
          <a:xfrm>
            <a:off x="4051621" y="1758076"/>
            <a:ext cx="578292" cy="4904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975AC48-B278-CE6A-F01E-381757045CF6}"/>
              </a:ext>
            </a:extLst>
          </p:cNvPr>
          <p:cNvSpPr txBox="1"/>
          <p:nvPr/>
        </p:nvSpPr>
        <p:spPr>
          <a:xfrm>
            <a:off x="641268" y="699884"/>
            <a:ext cx="2620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Tabela Relacional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290E09B-6FDD-5AF7-A897-6BD2361F64B0}"/>
              </a:ext>
            </a:extLst>
          </p:cNvPr>
          <p:cNvSpPr txBox="1"/>
          <p:nvPr/>
        </p:nvSpPr>
        <p:spPr>
          <a:xfrm>
            <a:off x="4955189" y="691965"/>
            <a:ext cx="2620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Tabela Estrela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7EEAF8E5-334F-AE59-41A2-D75A88D4C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185" y="1201156"/>
            <a:ext cx="2687244" cy="1838928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F2241122-A8EF-73A3-364A-F155D1969F36}"/>
              </a:ext>
            </a:extLst>
          </p:cNvPr>
          <p:cNvSpPr txBox="1"/>
          <p:nvPr/>
        </p:nvSpPr>
        <p:spPr>
          <a:xfrm>
            <a:off x="463678" y="4411612"/>
            <a:ext cx="79682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O diagrama acima representa a </a:t>
            </a:r>
            <a:r>
              <a:rPr lang="pt-BR" sz="1400" dirty="0" err="1"/>
              <a:t>database</a:t>
            </a:r>
            <a:r>
              <a:rPr lang="pt-BR" sz="1400" dirty="0"/>
              <a:t> criada no MySQL Workbench. Conforme explicado, as linhas pontilhadas representam as conexões das </a:t>
            </a:r>
            <a:r>
              <a:rPr lang="pt-BR" sz="1400" dirty="0" err="1"/>
              <a:t>foreign</a:t>
            </a:r>
            <a:r>
              <a:rPr lang="pt-BR" sz="1400" dirty="0"/>
              <a:t> </a:t>
            </a:r>
            <a:r>
              <a:rPr lang="pt-BR" sz="1400" dirty="0" err="1"/>
              <a:t>keys</a:t>
            </a:r>
            <a:endParaRPr lang="pt-BR" sz="1400" dirty="0"/>
          </a:p>
        </p:txBody>
      </p:sp>
      <p:sp>
        <p:nvSpPr>
          <p:cNvPr id="15" name="Seta: para a Direita 14">
            <a:extLst>
              <a:ext uri="{FF2B5EF4-FFF2-40B4-BE49-F238E27FC236}">
                <a16:creationId xmlns:a16="http://schemas.microsoft.com/office/drawing/2014/main" id="{1C49E0DC-2B2A-6C0C-DC0F-7D02991D5CC6}"/>
              </a:ext>
            </a:extLst>
          </p:cNvPr>
          <p:cNvSpPr/>
          <p:nvPr/>
        </p:nvSpPr>
        <p:spPr>
          <a:xfrm>
            <a:off x="7677701" y="1758076"/>
            <a:ext cx="578292" cy="4904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7E826150-6CC3-D702-1105-71F9377CE6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1897" y="1201156"/>
            <a:ext cx="3208944" cy="2109354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346CEE34-F01F-62D6-E3A2-67F154CE3E6B}"/>
              </a:ext>
            </a:extLst>
          </p:cNvPr>
          <p:cNvSpPr txBox="1"/>
          <p:nvPr/>
        </p:nvSpPr>
        <p:spPr>
          <a:xfrm>
            <a:off x="8431896" y="601130"/>
            <a:ext cx="3208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Relacionamento no Power BI</a:t>
            </a:r>
          </a:p>
        </p:txBody>
      </p:sp>
    </p:spTree>
    <p:extLst>
      <p:ext uri="{BB962C8B-B14F-4D97-AF65-F5344CB8AC3E}">
        <p14:creationId xmlns:p14="http://schemas.microsoft.com/office/powerpoint/2010/main" val="2434057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07684-C53A-2F9A-B3A5-41CA9DD15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5A81804-1C19-5CF3-255C-1ACC5B4D6618}"/>
              </a:ext>
            </a:extLst>
          </p:cNvPr>
          <p:cNvSpPr txBox="1"/>
          <p:nvPr/>
        </p:nvSpPr>
        <p:spPr>
          <a:xfrm>
            <a:off x="641268" y="231798"/>
            <a:ext cx="4667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Desafio DIO – Projeto Estrela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762024B-64D5-70D0-40CC-D0A78345180B}"/>
              </a:ext>
            </a:extLst>
          </p:cNvPr>
          <p:cNvSpPr txBox="1"/>
          <p:nvPr/>
        </p:nvSpPr>
        <p:spPr>
          <a:xfrm>
            <a:off x="9144000" y="654340"/>
            <a:ext cx="288570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Gráfico de coluna com quantidade de alunos por ano</a:t>
            </a:r>
          </a:p>
          <a:p>
            <a:endParaRPr lang="pt-BR" sz="1200" dirty="0"/>
          </a:p>
          <a:p>
            <a:r>
              <a:rPr lang="pt-BR" sz="1200" dirty="0"/>
              <a:t>Gráfico de coluna com quantidade de alunos por disciplina</a:t>
            </a:r>
          </a:p>
          <a:p>
            <a:endParaRPr lang="pt-BR" sz="1200" dirty="0"/>
          </a:p>
          <a:p>
            <a:r>
              <a:rPr lang="pt-BR" sz="1200" dirty="0"/>
              <a:t>Cartões com medidas de soma de professores, total de cursos e total de alunos.</a:t>
            </a:r>
          </a:p>
          <a:p>
            <a:endParaRPr lang="pt-BR" sz="1200" dirty="0"/>
          </a:p>
          <a:p>
            <a:r>
              <a:rPr lang="pt-BR" sz="1200" dirty="0"/>
              <a:t>Gráfico de radar com a carga horária por disciplina.</a:t>
            </a:r>
          </a:p>
          <a:p>
            <a:endParaRPr lang="pt-BR" sz="1200" dirty="0"/>
          </a:p>
          <a:p>
            <a:r>
              <a:rPr lang="pt-BR" sz="1200" dirty="0"/>
              <a:t>Gráfico de barras com quantidade de disciplinas por Campus.</a:t>
            </a:r>
          </a:p>
          <a:p>
            <a:endParaRPr lang="pt-BR" sz="1200" dirty="0"/>
          </a:p>
          <a:p>
            <a:r>
              <a:rPr lang="pt-BR" sz="1200" dirty="0"/>
              <a:t>Tabela com Departamento, Curso e Professor Coordenador.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A6C2B67-B505-F794-D3EF-05531A57EED4}"/>
              </a:ext>
            </a:extLst>
          </p:cNvPr>
          <p:cNvSpPr txBox="1"/>
          <p:nvPr/>
        </p:nvSpPr>
        <p:spPr>
          <a:xfrm>
            <a:off x="641268" y="5258610"/>
            <a:ext cx="113884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O banco de dados e as tabelas foram criadas no MySQL Workbench e conectadas ao Power BI.</a:t>
            </a:r>
          </a:p>
          <a:p>
            <a:r>
              <a:rPr lang="pt-BR" sz="1200" dirty="0"/>
              <a:t>Após a conexão surgiram colunas de valores e tabelas, e aproveitei na tabela departamento o valor do professor coordenador.</a:t>
            </a:r>
          </a:p>
          <a:p>
            <a:r>
              <a:rPr lang="pt-BR" sz="1200" dirty="0"/>
              <a:t>Fiz as atualizações de exclusão de colunas desnecessárias, verificação do tipo de  formato de cada coluna.</a:t>
            </a:r>
          </a:p>
          <a:p>
            <a:r>
              <a:rPr lang="pt-BR" sz="1200" dirty="0"/>
              <a:t>Atualizei as conexões entre as tabelas dimensão e fato.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846BD30-569D-0AFB-5C9F-76B2C6026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268" y="748584"/>
            <a:ext cx="7712405" cy="4311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8831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217</Words>
  <Application>Microsoft Office PowerPoint</Application>
  <PresentationFormat>Widescreen</PresentationFormat>
  <Paragraphs>24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Marcos Ogasawara</dc:creator>
  <cp:lastModifiedBy>Marcos Ogasawara</cp:lastModifiedBy>
  <cp:revision>6</cp:revision>
  <dcterms:created xsi:type="dcterms:W3CDTF">2025-12-01T19:51:23Z</dcterms:created>
  <dcterms:modified xsi:type="dcterms:W3CDTF">2025-12-05T00:29:22Z</dcterms:modified>
</cp:coreProperties>
</file>