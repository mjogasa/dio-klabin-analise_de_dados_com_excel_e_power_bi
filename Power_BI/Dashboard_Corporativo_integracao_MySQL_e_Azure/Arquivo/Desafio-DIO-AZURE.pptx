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0C820-DF74-B56E-07F7-E1A91C05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295447-8BCF-ED94-F75A-6BB0121CC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5F0EC-3329-4028-6F27-20739C4C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8A05F-6284-490C-F564-10C13AF4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A3E13-4CA2-A362-FE92-7766DC52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2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A443-C60B-6398-9409-04ED438E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D30E8-53B1-C252-288C-9516C5A43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0B0B9-A646-B9EB-F097-57DDBC6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5B11A-D245-76AD-C572-5B9F39EB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9458A-A83E-63A7-D546-867E5B79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1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62928-FEA4-A6E4-758E-364054BC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EA6DFB-B63A-55E3-8275-F5D50F55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2233A-2DB0-ADDB-7263-505BA438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90D0B-36E5-5575-AAA8-3D5DF6F0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D5552-37C0-B5D7-6C61-966DB26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58E1-CA81-CC1C-AD95-35AD4C02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F7AB2-270F-F81A-4605-BE3ECBB8F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04F0BD-39A1-1681-FAC9-BBDE7812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C4D98-BC30-E3F1-E620-6310F180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1AAA9-76F3-928B-8346-A59400D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1A9A4-24F2-254C-C97D-D54962CD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D635-4D78-47D3-96A3-005C4AF8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3A792-FE21-8F03-C35E-E2D8F862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C130E-409A-EEC2-A4BB-723F9A116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D44EE9-393A-0550-99FF-9FDBD835B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3E6265-403C-E100-AD38-AD60AC221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95895A-CFA7-05D7-4B16-6F1CF48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C031E9-8D07-05E4-9534-BAE49A19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608B3B-2A1B-9C1C-F45C-A4215B61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D3168-F0C5-1CDC-6B8C-10C2DEC9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D817DF-BBB9-5E82-9861-EFBB9C11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D07F6C-EFFF-DC53-7BBA-AEC67514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BB8BD5-BB26-60E9-7932-C7549B23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5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A8845-AD88-DED0-FA76-D71B9A8E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00D4A2-FFBF-645E-4661-77AE436B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61DD9-0910-9F1C-E4F4-6831FCE8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B3F0B-170D-594D-607C-674FBCB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B5BA0-21A0-8CA7-7F69-5648DC92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766797-883E-C720-CF0A-1E3F4A5F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32DEC-045E-7690-803C-A776A8BC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3700F0-2D6A-2738-290E-9350E2C7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0481F-A14F-7FAB-2541-401A05EA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6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74B22-C7E5-A55D-1AAC-63C115C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C64CE7-DA66-8071-902E-7F48E1E75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BFD27-64B9-0580-4201-323FF49F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468AD0-0833-F930-1714-5DC01016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798A85-D99F-F4AF-31E7-1DB3E1F3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A8D99-55AE-93A4-D138-EAE6D17F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5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807C9-E410-C1B4-4296-EAF82341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3262D1-8EA2-17FC-581A-52FC4451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491B0-C984-9B5E-86E1-51BAD623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4B16DE-6ADA-02DD-F07C-4014178E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0A9A0C-D737-8337-9B78-932EF6BF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4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6C1C14-3CC5-736E-3776-DCCF4F25E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EA9850-DB3C-753B-F9F1-FE901546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916DD-02AE-7596-69AF-8179BF8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717F3-5F85-67FF-3048-FFD7D0E0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484FE-79E4-EDB9-93C3-E02A4BCD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50E215-A59B-D4E1-429E-8088AA94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13287D-30C8-F051-70F2-BDD15436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6572B-8220-8581-AA26-3662FFA62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8A2B5-EFE2-4227-BA27-8836E5CFBAE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97F0D-FB82-DF66-D88D-FB214BDE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ED4ED8-9894-16C5-223E-287FEB2C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84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A4D809-0AA4-097A-C58F-A67E6DF21AFE}"/>
              </a:ext>
            </a:extLst>
          </p:cNvPr>
          <p:cNvSpPr txBox="1"/>
          <p:nvPr/>
        </p:nvSpPr>
        <p:spPr>
          <a:xfrm>
            <a:off x="641268" y="28500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com AZURE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3F4478-B3FA-3650-FD3E-91B15909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68" y="654340"/>
            <a:ext cx="7991936" cy="4500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8616916-181A-9068-7CD9-9FD206208D09}"/>
              </a:ext>
            </a:extLst>
          </p:cNvPr>
          <p:cNvSpPr txBox="1"/>
          <p:nvPr/>
        </p:nvSpPr>
        <p:spPr>
          <a:xfrm>
            <a:off x="9144000" y="654340"/>
            <a:ext cx="28857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Segmentador </a:t>
            </a:r>
            <a:r>
              <a:rPr lang="pt-BR" sz="1200" dirty="0" err="1"/>
              <a:t>ChicleteSlicer</a:t>
            </a:r>
            <a:r>
              <a:rPr lang="pt-BR" sz="1200" dirty="0"/>
              <a:t>: para seleção do departamento</a:t>
            </a:r>
          </a:p>
          <a:p>
            <a:endParaRPr lang="pt-BR" sz="1200" dirty="0"/>
          </a:p>
          <a:p>
            <a:r>
              <a:rPr lang="pt-BR" sz="1200" dirty="0"/>
              <a:t>Carões com o total de horas trabalhadas por departamento</a:t>
            </a:r>
          </a:p>
          <a:p>
            <a:endParaRPr lang="pt-BR" sz="1200" dirty="0"/>
          </a:p>
          <a:p>
            <a:r>
              <a:rPr lang="pt-BR" sz="1200" dirty="0"/>
              <a:t>Tabela com os departamentos e as horas trabalhadas divido pela localização</a:t>
            </a:r>
          </a:p>
          <a:p>
            <a:endParaRPr lang="pt-BR" sz="1200" dirty="0"/>
          </a:p>
          <a:p>
            <a:r>
              <a:rPr lang="pt-BR" sz="1200" dirty="0"/>
              <a:t>Gráfico de colunas com as horas trabalhadas por projeto</a:t>
            </a:r>
          </a:p>
          <a:p>
            <a:endParaRPr lang="pt-BR" sz="1200" dirty="0"/>
          </a:p>
          <a:p>
            <a:r>
              <a:rPr lang="pt-BR" sz="1200" dirty="0"/>
              <a:t>Gráfico de rosca com as horas trabalhados divido por cada gerente</a:t>
            </a:r>
          </a:p>
          <a:p>
            <a:endParaRPr lang="pt-BR" sz="1200" dirty="0"/>
          </a:p>
          <a:p>
            <a:r>
              <a:rPr lang="pt-BR" sz="1200" dirty="0"/>
              <a:t>Gráfico de  radar com as horas trabalhadas divido por localização</a:t>
            </a:r>
          </a:p>
          <a:p>
            <a:endParaRPr lang="pt-BR" sz="1200" dirty="0"/>
          </a:p>
          <a:p>
            <a:r>
              <a:rPr lang="pt-BR" sz="1200" dirty="0"/>
              <a:t>Gráfico de colunas com as horas trabalhadas por colaborador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1A6DF0-F234-8D12-1BF2-A1D4AD19393E}"/>
              </a:ext>
            </a:extLst>
          </p:cNvPr>
          <p:cNvSpPr txBox="1"/>
          <p:nvPr/>
        </p:nvSpPr>
        <p:spPr>
          <a:xfrm>
            <a:off x="641268" y="5258610"/>
            <a:ext cx="11388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Devido a questão de ambiguidade não foi possível criar a relação </a:t>
            </a:r>
            <a:r>
              <a:rPr lang="pt-BR" sz="1200" dirty="0" err="1"/>
              <a:t>Pno</a:t>
            </a:r>
            <a:r>
              <a:rPr lang="pt-BR" sz="1200" dirty="0"/>
              <a:t> (</a:t>
            </a:r>
            <a:r>
              <a:rPr lang="pt-BR" sz="1200" dirty="0" err="1"/>
              <a:t>work_on</a:t>
            </a:r>
            <a:r>
              <a:rPr lang="pt-BR" sz="1200" dirty="0"/>
              <a:t>) com </a:t>
            </a:r>
            <a:r>
              <a:rPr lang="pt-BR" sz="1200" dirty="0" err="1"/>
              <a:t>Pnumber</a:t>
            </a:r>
            <a:r>
              <a:rPr lang="pt-BR" sz="1200" dirty="0"/>
              <a:t> (Project). Inicialmente pensei em alterar as tabelas do nome de departamentos adicionando diferenças de número e nome do departamento </a:t>
            </a:r>
            <a:r>
              <a:rPr lang="pt-BR" sz="1200" dirty="0" err="1"/>
              <a:t>Research</a:t>
            </a:r>
            <a:r>
              <a:rPr lang="pt-BR" sz="1200" dirty="0"/>
              <a:t>, pois este departamento tem o mesmo nome em três locais diferente.</a:t>
            </a:r>
          </a:p>
          <a:p>
            <a:r>
              <a:rPr lang="pt-BR" sz="1200" dirty="0"/>
              <a:t>Mas resolvi utilizar a técnica de mesclar tabelas porque na tabela </a:t>
            </a:r>
            <a:r>
              <a:rPr lang="pt-BR" sz="1200" dirty="0" err="1"/>
              <a:t>works_on</a:t>
            </a:r>
            <a:r>
              <a:rPr lang="pt-BR" sz="1200" dirty="0"/>
              <a:t> temos o </a:t>
            </a:r>
            <a:r>
              <a:rPr lang="pt-BR" sz="1200" dirty="0" err="1"/>
              <a:t>Essn</a:t>
            </a:r>
            <a:r>
              <a:rPr lang="pt-BR" sz="1200" dirty="0"/>
              <a:t> (colaborador) e o </a:t>
            </a:r>
            <a:r>
              <a:rPr lang="pt-BR" sz="1200" dirty="0" err="1"/>
              <a:t>Pno</a:t>
            </a:r>
            <a:r>
              <a:rPr lang="pt-BR" sz="1200" dirty="0"/>
              <a:t>, que conecta com o </a:t>
            </a:r>
            <a:r>
              <a:rPr lang="pt-BR" sz="1200" dirty="0" err="1"/>
              <a:t>Pnumber</a:t>
            </a:r>
            <a:r>
              <a:rPr lang="pt-BR" sz="1200" dirty="0"/>
              <a:t> da tabela </a:t>
            </a:r>
            <a:r>
              <a:rPr lang="pt-BR" sz="1200" dirty="0" err="1"/>
              <a:t>project</a:t>
            </a:r>
            <a:r>
              <a:rPr lang="pt-BR" sz="1200" dirty="0"/>
              <a:t>.</a:t>
            </a:r>
          </a:p>
          <a:p>
            <a:r>
              <a:rPr lang="pt-BR" sz="1200" dirty="0"/>
              <a:t>Assim criei uma tabela mesclando </a:t>
            </a:r>
            <a:r>
              <a:rPr lang="pt-BR" sz="1200" dirty="0" err="1"/>
              <a:t>employee</a:t>
            </a:r>
            <a:r>
              <a:rPr lang="pt-BR" sz="1200" dirty="0"/>
              <a:t>, </a:t>
            </a:r>
            <a:r>
              <a:rPr lang="pt-BR" sz="1200" dirty="0" err="1"/>
              <a:t>departament</a:t>
            </a:r>
            <a:r>
              <a:rPr lang="pt-BR" sz="1200" dirty="0"/>
              <a:t> e </a:t>
            </a:r>
            <a:r>
              <a:rPr lang="pt-BR" sz="1200" dirty="0" err="1"/>
              <a:t>project</a:t>
            </a:r>
            <a:r>
              <a:rPr lang="pt-BR" sz="1200" dirty="0"/>
              <a:t>, com isso consegui criar os gráficos acima.</a:t>
            </a:r>
          </a:p>
        </p:txBody>
      </p:sp>
    </p:spTree>
    <p:extLst>
      <p:ext uri="{BB962C8B-B14F-4D97-AF65-F5344CB8AC3E}">
        <p14:creationId xmlns:p14="http://schemas.microsoft.com/office/powerpoint/2010/main" val="243405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7684-C53A-2F9A-B3A5-41CA9DD1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43C18F1-E172-34E9-C668-2D7DD866722B}"/>
              </a:ext>
            </a:extLst>
          </p:cNvPr>
          <p:cNvSpPr txBox="1"/>
          <p:nvPr/>
        </p:nvSpPr>
        <p:spPr>
          <a:xfrm>
            <a:off x="641268" y="28500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com AZURE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62024B-64D5-70D0-40CC-D0A78345180B}"/>
              </a:ext>
            </a:extLst>
          </p:cNvPr>
          <p:cNvSpPr txBox="1"/>
          <p:nvPr/>
        </p:nvSpPr>
        <p:spPr>
          <a:xfrm>
            <a:off x="9144000" y="654340"/>
            <a:ext cx="28857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Gráfico de barras com número de colaboradores por gerente</a:t>
            </a:r>
          </a:p>
          <a:p>
            <a:endParaRPr lang="pt-BR" sz="1200" dirty="0"/>
          </a:p>
          <a:p>
            <a:r>
              <a:rPr lang="pt-BR" sz="1200" dirty="0"/>
              <a:t>Gráfico de coluna com número de dependentes por colaborador</a:t>
            </a:r>
          </a:p>
          <a:p>
            <a:endParaRPr lang="pt-BR" sz="1200" dirty="0"/>
          </a:p>
          <a:p>
            <a:r>
              <a:rPr lang="pt-BR" sz="1200" dirty="0"/>
              <a:t>Tabela com colaboradores que possuem dependentes, e qual a relação.</a:t>
            </a:r>
          </a:p>
          <a:p>
            <a:endParaRPr lang="pt-BR" sz="1200" dirty="0"/>
          </a:p>
          <a:p>
            <a:r>
              <a:rPr lang="pt-BR" sz="1200" dirty="0"/>
              <a:t>Tabela com colaborador, horas trabalhadas, departamento que trabalhou, gerente, nome do projeto que trabalhou e o local.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6C2B67-B505-F794-D3EF-05531A57EED4}"/>
              </a:ext>
            </a:extLst>
          </p:cNvPr>
          <p:cNvSpPr txBox="1"/>
          <p:nvPr/>
        </p:nvSpPr>
        <p:spPr>
          <a:xfrm>
            <a:off x="641268" y="5258610"/>
            <a:ext cx="11388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Utilizei tabela criada com a mescla das tabelas </a:t>
            </a:r>
            <a:r>
              <a:rPr lang="pt-BR" sz="1200" dirty="0" err="1"/>
              <a:t>employee</a:t>
            </a:r>
            <a:r>
              <a:rPr lang="pt-BR" sz="1200" dirty="0"/>
              <a:t>, </a:t>
            </a:r>
            <a:r>
              <a:rPr lang="pt-BR" sz="1200" dirty="0" err="1"/>
              <a:t>departament</a:t>
            </a:r>
            <a:r>
              <a:rPr lang="pt-BR" sz="1200" dirty="0"/>
              <a:t> e </a:t>
            </a:r>
            <a:r>
              <a:rPr lang="pt-BR" sz="1200" dirty="0" err="1"/>
              <a:t>project</a:t>
            </a:r>
            <a:r>
              <a:rPr lang="pt-BR" sz="1200" dirty="0"/>
              <a:t>, no gráfico de barras e na tabela completa.</a:t>
            </a:r>
          </a:p>
          <a:p>
            <a:r>
              <a:rPr lang="pt-BR" sz="1200" dirty="0"/>
              <a:t>O gráfico de colunas e a tabela mais simples foram possíveis de serem criados com as tabelas originais.</a:t>
            </a:r>
          </a:p>
          <a:p>
            <a:r>
              <a:rPr lang="pt-BR" sz="1200" dirty="0"/>
              <a:t>Foram criados medidas com filtro para contabilizar a contagem e o tipo de relação com o dependente.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6CE454D-C220-821F-B987-23DFE5D6C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32" y="654340"/>
            <a:ext cx="8101648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83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296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2</cp:revision>
  <dcterms:created xsi:type="dcterms:W3CDTF">2025-12-01T19:51:23Z</dcterms:created>
  <dcterms:modified xsi:type="dcterms:W3CDTF">2025-12-01T20:29:22Z</dcterms:modified>
</cp:coreProperties>
</file>